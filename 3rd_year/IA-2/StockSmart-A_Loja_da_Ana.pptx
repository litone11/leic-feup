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353" r:id="rId2"/>
    <p:sldId id="359" r:id="rId3"/>
    <p:sldId id="360" r:id="rId4"/>
    <p:sldId id="361" r:id="rId5"/>
    <p:sldId id="370" r:id="rId6"/>
    <p:sldId id="371" r:id="rId7"/>
    <p:sldId id="372" r:id="rId8"/>
    <p:sldId id="373" r:id="rId9"/>
    <p:sldId id="369" r:id="rId10"/>
    <p:sldId id="374" r:id="rId11"/>
    <p:sldId id="362" r:id="rId12"/>
    <p:sldId id="36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los Manuel Milheiro de Oliveira Pinto Soares" initials="CMMdOPS" lastIdx="14" clrIdx="0">
    <p:extLst>
      <p:ext uri="{19B8F6BF-5375-455C-9EA6-DF929625EA0E}">
        <p15:presenceInfo xmlns:p15="http://schemas.microsoft.com/office/powerpoint/2012/main" userId="ad9450a8-fb89-4aff-9c31-a91c81ef7610" providerId="Windows Live"/>
      </p:ext>
    </p:extLst>
  </p:cmAuthor>
  <p:cmAuthor id="2" name="Carlos Manuel Milheiro de Oliveira Pinto Soares" initials="CMMdOPS [2]" lastIdx="12" clrIdx="1">
    <p:extLst>
      <p:ext uri="{19B8F6BF-5375-455C-9EA6-DF929625EA0E}">
        <p15:presenceInfo xmlns:p15="http://schemas.microsoft.com/office/powerpoint/2012/main" userId="S::csoares@pbs.up.pt::ad9450a8-fb89-4aff-9c31-a91c81ef7610" providerId="AD"/>
      </p:ext>
    </p:extLst>
  </p:cmAuthor>
  <p:cmAuthor id="3" name="Carlos Soares" initials="CS" lastIdx="7" clrIdx="2">
    <p:extLst>
      <p:ext uri="{19B8F6BF-5375-455C-9EA6-DF929625EA0E}">
        <p15:presenceInfo xmlns:p15="http://schemas.microsoft.com/office/powerpoint/2012/main" userId="S::up235847@up.pt::58cfb87a-9ada-478d-b2aa-47c3b05f2ec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34" autoAdjust="0"/>
    <p:restoredTop sz="93630" autoAdjust="0"/>
  </p:normalViewPr>
  <p:slideViewPr>
    <p:cSldViewPr snapToGrid="0" snapToObjects="1">
      <p:cViewPr varScale="1">
        <p:scale>
          <a:sx n="119" d="100"/>
          <a:sy n="119" d="100"/>
        </p:scale>
        <p:origin x="19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132BA-7F90-C045-AC3C-D088D737BC8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F13E1-8011-274F-A832-B81829A48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415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605C-FF3E-654F-890C-85C3E6C4269C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DA452D-C759-EA45-A61C-6757CDAD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67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90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DA452D-C759-EA45-A61C-6757CDAD72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16494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ti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7772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133600" cy="365125"/>
          </a:xfrm>
        </p:spPr>
        <p:txBody>
          <a:bodyPr/>
          <a:lstStyle/>
          <a:p>
            <a:fld id="{11E87A6F-16E5-2444-8E01-52483A43058D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03026" y="6492875"/>
            <a:ext cx="2133600" cy="365125"/>
          </a:xfrm>
        </p:spPr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85953"/>
            <a:ext cx="2015644" cy="6646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9148CA-9598-5A4A-A7FC-FEA6BD71DD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9902" b="15599"/>
          <a:stretch/>
        </p:blipFill>
        <p:spPr>
          <a:xfrm>
            <a:off x="6019800" y="116855"/>
            <a:ext cx="2502310" cy="100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5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184386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ABE37-C354-7843-8D1B-82AD8732054D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_UP_FEUP_monocromátic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350364"/>
            <a:ext cx="2027668" cy="66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 err="1"/>
              <a:t>Click</a:t>
            </a:r>
            <a:r>
              <a:rPr lang="pt-PT" dirty="0"/>
              <a:t> to </a:t>
            </a:r>
            <a:r>
              <a:rPr lang="pt-PT" dirty="0" err="1"/>
              <a:t>edit</a:t>
            </a:r>
            <a:r>
              <a:rPr lang="pt-PT" dirty="0"/>
              <a:t> </a:t>
            </a:r>
            <a:r>
              <a:rPr lang="pt-PT" dirty="0" err="1"/>
              <a:t>Master</a:t>
            </a:r>
            <a:r>
              <a:rPr lang="pt-PT" dirty="0"/>
              <a:t> </a:t>
            </a:r>
            <a:r>
              <a:rPr lang="pt-PT" dirty="0" err="1"/>
              <a:t>title</a:t>
            </a:r>
            <a:r>
              <a:rPr lang="pt-PT" dirty="0"/>
              <a:t> </a:t>
            </a:r>
            <a:r>
              <a:rPr lang="pt-PT" dirty="0" err="1"/>
              <a:t>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C8EF8-12EF-244B-8AD9-ADF3AF7DF6B1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F4CE35-700E-D24D-BFFE-3A46495E0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7560" y="6492875"/>
            <a:ext cx="4188543" cy="365125"/>
          </a:xfrm>
        </p:spPr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4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E1FB-A965-7646-B21B-EA92A716BFB6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60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562DD-2E3D-1046-8925-14B387B4EBE4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23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B5E3E-DB9A-D44E-A77E-F04CA3810003}" type="datetime1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907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50069CF2-EEBE-B943-855E-E4B9D86DC9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CC3B-8D39-4F4D-BF99-FB2D3A1E3AF3}" type="datetime1">
              <a:rPr lang="en-US" smtClean="0"/>
              <a:t>4/23/26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E1244B59-E2B5-444D-B4DC-4AC3B4C849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2CFB25-9124-B443-9B84-19A867D02B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53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A6A1B-DA9C-F04B-AB4D-14C78B78D751}" type="datetime1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CD2A-FE21-F941-9181-60477F37902D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642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8DD4D-0F64-554F-821E-A588CA7F0791}" type="datetime1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07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3654A-3E1B-1642-984F-D85157AAB59A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422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649C1-9FF8-D641-9274-7E16A33349D5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479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údo geral">
  <p:cSld name="1_Conteúdo geral">
    <p:bg>
      <p:bgPr>
        <a:blipFill>
          <a:blip r:embed="rId2">
            <a:alphaModFix amt="15000"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/>
        </p:nvSpPr>
        <p:spPr>
          <a:xfrm>
            <a:off x="1417599" y="6335713"/>
            <a:ext cx="18101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 b="0" i="0" u="none" strike="noStrike" cap="none">
                <a:solidFill>
                  <a:srgbClr val="9E9E9E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350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251222" y="53744"/>
            <a:ext cx="6427012" cy="854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None/>
              <a:defRPr sz="1800" b="1" i="0" u="none" strike="noStrike" cap="none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350"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250924" y="1052736"/>
            <a:ext cx="8641556" cy="5124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marR="0" lvl="0" indent="-1714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373E47"/>
              </a:buClr>
              <a:buSzPts val="2400"/>
              <a:buFont typeface="Arial"/>
              <a:buNone/>
              <a:defRPr sz="18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85800" marR="0" lvl="1" indent="-27622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2200"/>
              <a:buFont typeface="Noto Sans Symbols"/>
              <a:buChar char="▪"/>
              <a:defRPr sz="15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028700" marR="0" lvl="2" indent="-257175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800"/>
              <a:buFont typeface="Noto Sans Symbols"/>
              <a:buChar char="▪"/>
              <a:defRPr sz="135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371600" marR="0" lvl="3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1714500" marR="0" lvl="4" indent="-247650" algn="l" rtl="0">
              <a:lnSpc>
                <a:spcPct val="100000"/>
              </a:lnSpc>
              <a:spcBef>
                <a:spcPts val="451"/>
              </a:spcBef>
              <a:spcAft>
                <a:spcPts val="0"/>
              </a:spcAft>
              <a:buClr>
                <a:srgbClr val="FF6600"/>
              </a:buClr>
              <a:buSzPts val="1600"/>
              <a:buFont typeface="Noto Sans Symbols"/>
              <a:buChar char="▪"/>
              <a:defRPr sz="1200" b="0" i="0" u="none" strike="noStrike" cap="none">
                <a:solidFill>
                  <a:srgbClr val="373E47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057400" marR="0" lvl="5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2400300" marR="0" lvl="6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2743200" marR="0" lvl="7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3086100" marR="0" lvl="8" indent="-25717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50081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  <p15:guide id="4" pos="6335">
          <p15:clr>
            <a:srgbClr val="FBAE40"/>
          </p15:clr>
        </p15:guide>
        <p15:guide id="5" pos="7469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28">
          <p15:clr>
            <a:srgbClr val="FBAE40"/>
          </p15:clr>
        </p15:guide>
        <p15:guide id="8" orient="horz" pos="216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870"/>
            <a:ext cx="6940861" cy="127821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AA085-F8B6-C74F-A545-7650ED705A4F}" type="datetime1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9909" y="6492875"/>
            <a:ext cx="44638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IART @ L.EIC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F91DC-9B2A-DA46-8614-FC490D3FF29A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 descr="logo_UP_FEUP_monocromático.png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861" y="293957"/>
            <a:ext cx="2239233" cy="7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4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4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5800" y="1328131"/>
            <a:ext cx="7772400" cy="1470025"/>
          </a:xfrm>
        </p:spPr>
        <p:txBody>
          <a:bodyPr>
            <a:normAutofit/>
          </a:bodyPr>
          <a:lstStyle/>
          <a:p/>
          <a:p>
            <a:pPr/>
            <a:r>
              <a:t>StockSmart</a:t>
            </a:r>
          </a:p>
          <a:p>
            <a:pPr/>
            <a:r>
              <a:t>Demand Forecasting for A Loja da Ana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0D12EB-6D15-0DB7-BF29-13548910D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  <a:p>
            <a:pPr/>
            <a:r>
              <a:t>Project 2 — L.EIC IART 2025/2026</a:t>
            </a:r>
          </a:p>
          <a:p>
            <a:pPr/>
            <a:r>
              <a:t>[Nome 1], ist1XXXXXX</a:t>
            </a:r>
          </a:p>
          <a:p>
            <a:pPr/>
            <a:r>
              <a:t>[Nome 2], ist1XXXXXX</a:t>
            </a:r>
          </a:p>
          <a:p>
            <a:pPr/>
            <a:r>
              <a:t>[Nome 3], ist1XXXXXX</a:t>
            </a:r>
          </a:p>
        </p:txBody>
      </p:sp>
    </p:spTree>
    <p:extLst>
      <p:ext uri="{BB962C8B-B14F-4D97-AF65-F5344CB8AC3E}">
        <p14:creationId xmlns:p14="http://schemas.microsoft.com/office/powerpoint/2010/main" val="1733574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70CE-FDEC-4E92-E8F6-A3D1A00C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Customer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CAAC2-B777-3DD2-AD48-C440F090F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 Loja da Ana</a:t>
            </a:r>
          </a:p>
          <a:p>
            <a:pPr lvl="1"/>
            <a:r>
              <a:t>Small independent clothing store specialised in 100% Portuguese-made apparel</a:t>
            </a:r>
          </a:p>
          <a:p>
            <a:pPr lvl="1"/>
            <a:r>
              <a:t>Curated selection of categories: t-shirts, pants, dresses, coats, skirts, sweaters</a:t>
            </a:r>
          </a:p>
          <a:p>
            <a:pPr lvl="1"/>
            <a:r>
              <a:t>Loyal local clientele, strong seasonal patterns</a:t>
            </a:r>
          </a:p>
          <a:p>
            <a:pPr/>
            <a:r>
              <a:t>Contact person</a:t>
            </a:r>
          </a:p>
          <a:p>
            <a:pPr lvl="1"/>
            <a:r>
              <a:t>Ana — Owner and Store Manager</a:t>
            </a:r>
          </a:p>
          <a:p>
            <a:pPr lvl="1"/>
            <a:r>
              <a:t>Responsible for purchasing, pricing and supplier 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27DF1-2037-AB3E-9747-A728CE44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9A950-FBEE-1B3C-AC4D-4DB713F8C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4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DCB54-7A9F-C7C6-433C-355A834E0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53A36-7E51-3C7C-9EE3-5B270D72C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How many units of each item should be ordered for each season?</a:t>
            </a:r>
          </a:p>
          <a:p>
            <a:pPr lvl="1"/>
            <a:r>
              <a:t>Decisions are currently made on Ana's experience and last year's gut feeling</a:t>
            </a:r>
          </a:p>
          <a:p>
            <a:pPr lvl="1"/>
            <a:r>
              <a:t>No structured forecasting process in place</a:t>
            </a:r>
          </a:p>
          <a:p>
            <a:pPr/>
            <a:r>
              <a:t>Consequences of getting it wrong</a:t>
            </a:r>
          </a:p>
          <a:p>
            <a:pPr lvl="1"/>
            <a:r>
              <a:t>Overstocking → tied-up capital, end-of-season markdowns, reduced margins</a:t>
            </a:r>
          </a:p>
          <a:p>
            <a:pPr lvl="1"/>
            <a:r>
              <a:t>Stockouts → lost sales, frustrated regulars, no quick restock</a:t>
            </a:r>
          </a:p>
          <a:p>
            <a:pPr lvl="1"/>
            <a:r>
              <a:t>Portuguese suppliers have long lead times and minimum order quantities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9A3059-B1BD-D3FB-B86A-3BA4E9FA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7EF15-F82E-7BC4-F9C0-A0C866B1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64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9B77-200C-05A3-C3A2-3710962EE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4D6B1-3115-4035-E5FE-A1BE13B8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Point-of-sale historical records (per item)</a:t>
            </a:r>
          </a:p>
          <a:p>
            <a:pPr lvl="1"/>
            <a:r>
              <a:t>Category, season, list price, discount applied, units sold</a:t>
            </a:r>
          </a:p>
          <a:p>
            <a:pPr/>
            <a:r>
              <a:t>Product catalogue</a:t>
            </a:r>
          </a:p>
          <a:p>
            <a:pPr lvl="1"/>
            <a:r>
              <a:t>Profit margin per item, supplier, lead time</a:t>
            </a:r>
          </a:p>
          <a:p>
            <a:pPr/>
            <a:r>
              <a:t>Derived features</a:t>
            </a:r>
          </a:p>
          <a:p>
            <a:pPr lvl="1"/>
            <a:r>
              <a:t>Previous-season sales for the same category (autocorrelation)</a:t>
            </a:r>
          </a:p>
          <a:p>
            <a:pPr lvl="1"/>
            <a:r>
              <a:t>Flag: item currently trending (social media, store-window feedback)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F9FCA-61A8-ABA8-6F53-C41BCD1A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14484-D6EC-2E5C-5551-962F7ABDB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52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2D650-9867-C2E6-3486-38C1DF66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FD194-E657-3A6A-43C5-1BCD9E722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/>
          <a:p>
            <a:pPr/>
            <a:r>
              <a:t>StockSmart — web app (Streamlit) used by Ana before each ordering cycle</a:t>
            </a:r>
          </a:p>
          <a:p>
            <a:pPr lvl="1"/>
            <a:r>
              <a:t>Single-item mode: enter a product's attributes → recommended units to order with 90% confidence interval</a:t>
            </a:r>
          </a:p>
          <a:p>
            <a:pPr lvl="1"/>
            <a:r>
              <a:t>Batch mode: upload CSV with the season's catalogue → all forecasts at once, downloadable</a:t>
            </a:r>
          </a:p>
          <a:p>
            <a:pPr lvl="1"/>
            <a:r>
              <a:t>Analytics dashboard: visualise seasonal and category demand patterns</a:t>
            </a:r>
          </a:p>
          <a:p>
            <a:pPr/>
            <a:r>
              <a:t>Predictive model — Random Forest Regressor (focus of this POC)</a:t>
            </a:r>
          </a:p>
          <a:p>
            <a:pPr lvl="1"/>
            <a:r>
              <a:t>Confidence interval derived from variance across the forest's trees</a:t>
            </a:r>
          </a:p>
          <a:p>
            <a:pPr/>
            <a:r>
              <a:t>NOTE: only the predictive model is in this POC's scope; the full app illustrates how it would be consumed.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766D3-9E2F-2E67-C082-FC0ACBEB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9BFB8-9687-5073-75B7-B3FF1BFA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37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4356-5B8F-4558-EEB3-1C6959DB8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Predictive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A04B-D6C7-A5F6-EC51-5C4F06606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variable</a:t>
            </a:r>
          </a:p>
          <a:p>
            <a:pPr lvl="1"/>
            <a:r>
              <a:t>Units to order for an item in an upcoming season (regression)</a:t>
            </a:r>
          </a:p>
          <a:p>
            <a:pPr/>
            <a:r>
              <a:t>Input attributes (7)</a:t>
            </a:r>
          </a:p>
          <a:p>
            <a:pPr lvl="1"/>
            <a:r>
              <a:t>Category — T-shirt, Pants, Dress, Coat, Skirt, Sweater</a:t>
            </a:r>
          </a:p>
          <a:p>
            <a:pPr lvl="1"/>
            <a:r>
              <a:t>Season — Spring, Summer, Autumn, Winter</a:t>
            </a:r>
          </a:p>
          <a:p>
            <a:pPr lvl="1"/>
            <a:r>
              <a:t>Price (€) and discount (%)</a:t>
            </a:r>
          </a:p>
          <a:p>
            <a:pPr lvl="1"/>
            <a:r>
              <a:t>Trending flag (0/1)</a:t>
            </a:r>
          </a:p>
          <a:p>
            <a:pPr lvl="1"/>
            <a:r>
              <a:t>Profit margin (% of list price)</a:t>
            </a:r>
          </a:p>
          <a:p>
            <a:pPr lvl="1"/>
            <a:r>
              <a:t>Previous-season sales for the same category</a:t>
            </a:r>
          </a:p>
          <a:p>
            <a:pPr/>
            <a:r>
              <a:t>Algorithm — Random Forest Regressor (200 trees, tuned via RandomizedSearchCV)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09459-8901-5DAB-D626-C5D2A119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78D78-9BA9-58F2-1DD2-E5AA90B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1184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5A6EA-5FEA-9B03-3BF6-6E775FD2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Empirical Study —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4A4F5-6F7E-54A8-1CAD-FF23811E0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data</a:t>
            </a:r>
          </a:p>
          <a:p>
            <a:pPr lvl="1"/>
            <a:r>
              <a:t>3 000 synthetic records with realistic seasonal demand patterns per category</a:t>
            </a:r>
          </a:p>
          <a:p>
            <a:pPr lvl="1"/>
            <a:r>
              <a:t>Category-specific noise, autocorrelation with previous-season sales</a:t>
            </a:r>
          </a:p>
          <a:p>
            <a:pPr/>
            <a:r>
              <a:t>Evaluation process</a:t>
            </a:r>
          </a:p>
          <a:p>
            <a:pPr lvl="1"/>
            <a:r>
              <a:t>Train/test split 80/20 (2 400 / 600)</a:t>
            </a:r>
          </a:p>
          <a:p>
            <a:pPr lvl="1"/>
            <a:r>
              <a:t>Hyperparameter tuning: RandomizedSearchCV, 30 candidates × 5-fold CV (R² objective)</a:t>
            </a:r>
          </a:p>
          <a:p>
            <a:pPr lvl="1"/>
            <a:r>
              <a:t>Algorithms compared: Linear Regression, Decision Tree, Random Forest</a:t>
            </a:r>
          </a:p>
          <a:p>
            <a:pPr/>
            <a:r>
              <a:t>Evaluation measures</a:t>
            </a:r>
          </a:p>
          <a:p>
            <a:pPr lvl="1"/>
            <a:r>
              <a:t>MAE, RMSE and R² on the held-out test set</a:t>
            </a:r>
          </a:p>
          <a:p>
            <a:pPr lvl="1"/>
            <a:r>
              <a:t>5-fold cross-validated R² to estimate generalisation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EA042-7F16-250D-904E-0D495DF7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93020-01B6-6FA8-4274-2473F91F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53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3F027-2243-4835-CC56-74F42BA7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F023-90AF-93E8-0628-980DA4C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Empirical Study —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AF63F-74CA-62FE-EEA3-52F343F8D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Random Forest (selected model)</a:t>
            </a:r>
          </a:p>
          <a:p>
            <a:pPr lvl="1"/>
            <a:r>
              <a:t>R² = 0.92 on the test set</a:t>
            </a:r>
          </a:p>
          <a:p>
            <a:pPr lvl="1"/>
            <a:r>
              <a:t>MAE = 6.42 units, RMSE = 8.20 units</a:t>
            </a:r>
          </a:p>
          <a:p>
            <a:pPr lvl="1"/>
            <a:r>
              <a:t>5-fold CV R² = 0.919 ± 0.006 — stable across folds</a:t>
            </a:r>
          </a:p>
          <a:p>
            <a:pPr/>
            <a:r>
              <a:t>Baselines</a:t>
            </a:r>
          </a:p>
          <a:p>
            <a:pPr lvl="1"/>
            <a:r>
              <a:t>Linear Regression: lower R², residuals show non-linearity (interactions category × season)</a:t>
            </a:r>
          </a:p>
          <a:p>
            <a:pPr lvl="1"/>
            <a:r>
              <a:t>Decision Tree: similar bias but higher variance than the forest</a:t>
            </a:r>
          </a:p>
          <a:p>
            <a:pPr/>
            <a:r>
              <a:t>Most important features</a:t>
            </a:r>
          </a:p>
          <a:p>
            <a:pPr lvl="1"/>
            <a:r>
              <a:t>Previous-season sales, season and category — together explain the bulk of demand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47D20-CB05-C73F-9F63-E8C4D7083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9EAB-B341-E2BE-FB7B-C03748A4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764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DED63-CEF5-934E-640B-EE9478E8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68144-933A-0D11-A18B-41E15D14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Ana — Owner / decision maker</a:t>
            </a:r>
          </a:p>
          <a:p>
            <a:pPr lvl="1"/>
            <a:r>
              <a:t>Defines ordering policy, validates forecasts before placing orders</a:t>
            </a:r>
          </a:p>
          <a:p>
            <a:pPr/>
            <a:r>
              <a:t>Store staff</a:t>
            </a:r>
          </a:p>
          <a:p>
            <a:pPr lvl="1"/>
            <a:r>
              <a:t>Capture historical sales accurately at the point of sale</a:t>
            </a:r>
          </a:p>
          <a:p>
            <a:pPr/>
            <a:r>
              <a:t>Portuguese suppliers / manufacturers</a:t>
            </a:r>
          </a:p>
          <a:p>
            <a:pPr lvl="1"/>
            <a:r>
              <a:t>Share lead times and minimum order quantities</a:t>
            </a:r>
          </a:p>
          <a:p>
            <a:pPr/>
            <a:r>
              <a:t>Accountant</a:t>
            </a:r>
          </a:p>
          <a:p>
            <a:pPr lvl="1"/>
            <a:r>
              <a:t>Provides cost and margin data per item</a:t>
            </a:r>
          </a:p>
          <a:p>
            <a:pPr/>
            <a:r>
              <a:t>ML consultancy team</a:t>
            </a:r>
          </a:p>
          <a:p>
            <a:pPr lvl="1"/>
            <a:r>
              <a:t>Model development, deployment and seasonal retraining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D6757-7584-CB42-EE07-01C8562F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4C13E-6F0B-83CE-B798-6E50ECE22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405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82E4-7D46-ED0F-A0AD-AF17554EC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/>
            <a:r>
              <a:t>Expected Challenges During Development and Deployment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ABCF5-7DDD-3EE1-903F-E3F2BFF40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Technical</a:t>
            </a:r>
          </a:p>
          <a:p>
            <a:pPr lvl="1"/>
            <a:r>
              <a:t>Real sales history is small (single store) → risk of overfitting</a:t>
            </a:r>
          </a:p>
          <a:p>
            <a:pPr lvl="1"/>
            <a:r>
              <a:t>Missing data for new items or newly introduced categories</a:t>
            </a:r>
          </a:p>
          <a:p>
            <a:pPr lvl="1"/>
            <a:r>
              <a:t>Sudden market shocks (viral social-media trends, weather anomalies)</a:t>
            </a:r>
          </a:p>
          <a:p>
            <a:pPr lvl="1"/>
            <a:r>
              <a:t>Data quality from manual entries at the point of sale</a:t>
            </a:r>
          </a:p>
          <a:p>
            <a:pPr/>
            <a:r>
              <a:t>Organisational</a:t>
            </a:r>
          </a:p>
          <a:p>
            <a:pPr lvl="1"/>
            <a:r>
              <a:t>Resistance to replacing intuition with a model</a:t>
            </a:r>
          </a:p>
          <a:p>
            <a:pPr lvl="1"/>
            <a:r>
              <a:t>Need for retraining/updating each season</a:t>
            </a:r>
          </a:p>
          <a:p>
            <a:pPr lvl="1"/>
            <a:r>
              <a:t>Aligning supplier lead times with the new ordering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49403-0050-F998-D870-75DABA10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84E8-7699-3009-67D9-328885C21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330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FBCE-ED83-AC6F-BD51-40E4FD1B3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/>
            <a:r>
              <a:t>Unavailable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AE032-E937-8CC4-459D-17DECB994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Customer-level data</a:t>
            </a:r>
          </a:p>
          <a:p>
            <a:pPr lvl="1"/>
            <a:r>
              <a:t>Demographics, repeat-buyer behaviour — would require a loyalty programme and GDPR-compliant storage</a:t>
            </a:r>
          </a:p>
          <a:p>
            <a:pPr/>
            <a:r>
              <a:t>External signals</a:t>
            </a:r>
          </a:p>
          <a:p>
            <a:pPr lvl="1"/>
            <a:r>
              <a:t>Competitor pricing in the local area — manual collection effort</a:t>
            </a:r>
          </a:p>
          <a:p>
            <a:pPr lvl="1"/>
            <a:r>
              <a:t>Weather forecasts for the upcoming season — external API integration</a:t>
            </a:r>
          </a:p>
          <a:p>
            <a:pPr lvl="1"/>
            <a:r>
              <a:t>Social-media trend signals — scraping or paid API access</a:t>
            </a:r>
          </a:p>
          <a:p>
            <a:pPr/>
            <a:r>
              <a:t>Challenges to collect</a:t>
            </a:r>
          </a:p>
          <a:p>
            <a:pPr lvl="1"/>
            <a:r>
              <a:t>Ongoing collection cost, data freshness, privacy and GDPR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D675-38F4-1062-A0F4-F683C825C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5F9AA4-A5FF-BC1C-9E4D-F7F9CF6B2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508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63A40-A220-5004-7B97-603C5772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Ethical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6F44C-762F-7C16-EEC5-07FBD4AB9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Reinforcement of best-sellers</a:t>
            </a:r>
          </a:p>
          <a:p>
            <a:pPr lvl="1"/>
            <a:r>
              <a:t>Model may marginalise niche Portuguese designers / small collections that did not sell well historically</a:t>
            </a:r>
          </a:p>
          <a:p>
            <a:pPr/>
            <a:r>
              <a:t>Loss of human judgement</a:t>
            </a:r>
          </a:p>
          <a:p>
            <a:pPr lvl="1"/>
            <a:r>
              <a:t>Over-reliance on the model could remove Ana's craft and intuition from buying decisions</a:t>
            </a:r>
          </a:p>
          <a:p>
            <a:pPr/>
            <a:r>
              <a:t>Indirect pressure on suppliers</a:t>
            </a:r>
          </a:p>
          <a:p>
            <a:pPr lvl="1"/>
            <a:r>
              <a:t>Aggressive discounting suggestions could harm small local manufacturers' margins</a:t>
            </a:r>
          </a:p>
          <a:p>
            <a:pPr/>
            <a:r>
              <a:t>Transparency and accountability</a:t>
            </a:r>
          </a:p>
          <a:p>
            <a:pPr lvl="1"/>
            <a:r>
              <a:t>Ana must understand WHY a forecast is given, not only the number</a:t>
            </a:r>
          </a:p>
          <a:p>
            <a:pPr/>
            <a:r>
              <a:t>Mitigations</a:t>
            </a:r>
          </a:p>
          <a:p>
            <a:pPr lvl="1"/>
            <a:r>
              <a:t>Keep model output advisory, expose feature importance, schedule human review each season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8AB8E-B472-EE14-5613-83806011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91DC-9B2A-DA46-8614-FC490D3FF29A}" type="slidenum">
              <a:rPr lang="en-US" smtClean="0"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2F18-BCD7-598E-0909-B8CFF27D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IART @ L.EIC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229600"/>
      </p:ext>
    </p:extLst>
  </p:cSld>
  <p:clrMapOvr>
    <a:masterClrMapping/>
  </p:clrMapOvr>
</p:sld>
</file>

<file path=ppt/theme/theme1.xml><?xml version="1.0" encoding="utf-8"?>
<a:theme xmlns:a="http://schemas.openxmlformats.org/drawingml/2006/main" name="FEUP - aula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FEUP - aulas.potx</Template>
  <TotalTime>9723</TotalTime>
  <Words>296</Words>
  <Application>Microsoft Macintosh PowerPoint</Application>
  <PresentationFormat>On-screen Show (4:3)</PresentationFormat>
  <Paragraphs>67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Noto Sans Symbols</vt:lpstr>
      <vt:lpstr>Verdana</vt:lpstr>
      <vt:lpstr>FEUP - aulas</vt:lpstr>
      <vt:lpstr>projet 2 L.EIC – IART</vt:lpstr>
      <vt:lpstr>customer</vt:lpstr>
      <vt:lpstr>problem</vt:lpstr>
      <vt:lpstr>available data</vt:lpstr>
      <vt:lpstr>solution overview</vt:lpstr>
      <vt:lpstr>predictive model</vt:lpstr>
      <vt:lpstr>empirical study: setup</vt:lpstr>
      <vt:lpstr>empirical study: results</vt:lpstr>
      <vt:lpstr>stakeholders</vt:lpstr>
      <vt:lpstr>expected challenges during development and deployment</vt:lpstr>
      <vt:lpstr>unavailable data</vt:lpstr>
      <vt:lpstr>ethical risks</vt:lpstr>
    </vt:vector>
  </TitlesOfParts>
  <Company>Universidade do Porto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Carlos Soares</dc:creator>
  <cp:lastModifiedBy>Carlos Soares</cp:lastModifiedBy>
  <cp:revision>271</cp:revision>
  <cp:lastPrinted>2025-12-10T00:32:54Z</cp:lastPrinted>
  <dcterms:created xsi:type="dcterms:W3CDTF">2012-09-12T17:30:14Z</dcterms:created>
  <dcterms:modified xsi:type="dcterms:W3CDTF">2026-04-22T22:40:17Z</dcterms:modified>
</cp:coreProperties>
</file>